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 image 1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/>
          <p:cNvPicPr/>
          <p:nvPr/>
        </p:nvPicPr>
        <p:blipFill>
          <a:blip r:embed="rId2"/>
          <a:stretch/>
        </p:blipFill>
        <p:spPr>
          <a:xfrm>
            <a:off x="-68040" y="-35640"/>
            <a:ext cx="12259440" cy="68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609480" y="968760"/>
            <a:ext cx="10972080" cy="461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redes neuronales convolucionales profundas han evolucionado hacia diseños altamente optimizados que equilibran precisión y coste computacional. En este contexto, ResNet-50 y EfficientNet-B0 representan dos paradigmas distintos: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ResNet-50 (Residual Networks) introduce conexiones residuales para facilitar el entrenamiento de redes profundas.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EfficientNet-B0 propone un escalado compuesto sistemático que optimiza simultáneamente profundidad, anchura y resolución.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Ambos modelos son ampliamente utilizados en tareas de visión por computador, especialmente en clasificación de imágenes, y sirven como backbones en múltiples aplicaciones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lide image 2"/>
          <p:cNvSpPr/>
          <p:nvPr/>
        </p:nvSpPr>
        <p:spPr>
          <a:xfrm>
            <a:off x="0" y="-234360"/>
            <a:ext cx="12191400" cy="1127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609480" y="968760"/>
            <a:ext cx="10972080" cy="461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ResNet-50: fundamentos y características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ResNet-50 se basa en bloques residuales que implementan la función: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0"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y=F(x)+x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donde F(x) representa la transformación convolucional aprendida.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Fortalezas: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Mitigación del problema del vanishing gradient mediante conexiones identidad.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Entrenamiento estable incluso en redes muy profundas.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Buen rendimiento general y fuerte capacidad de generalización.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Arquitectura ampliamente validada y robusta en múltiples benchmarks.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Debilidades: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Coste computacional relativamente alto frente a modelos más modernos.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optimiza explícitamente la eficiencia (parámetros/FLOPs).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Arquitectura menos flexible en escenarios con restricciones de hardware.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lide image 3"/>
          <p:cNvSpPr/>
          <p:nvPr/>
        </p:nvSpPr>
        <p:spPr>
          <a:xfrm>
            <a:off x="0" y="-234360"/>
            <a:ext cx="12191400" cy="1127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609480" y="968760"/>
            <a:ext cx="10972080" cy="461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EfficientNet-B0: fundamentos y características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EfficientNet-B0 introduce el concepto de compound scaling, donde la profundidad (d), anchura (w) y resolución (r) se escalan de manera conjunta: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Escalado:   d=α</a:t>
            </a:r>
            <a:r>
              <a:rPr lang="es-ES" sz="14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ϕ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w=β</a:t>
            </a:r>
            <a:r>
              <a:rPr lang="es-ES" sz="14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ϕ</a:t>
            </a: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,r=γ</a:t>
            </a:r>
            <a:r>
              <a:rPr lang="es-ES" sz="14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ϕ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sujeto a restricciones de eficiencia computacional.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Fortalezas: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Excelente relación precisión/eficiencia (mejor uso de parámetros).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Escalabilidad sistemática a versiones más grandes (B1–B7).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Menor coste computacional para un rendimiento comparable o superior a ResNet.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Diseño optimizado mediante búsqueda de arquitectura (NAS).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Debilidades: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Mayor complejidad conceptual y de implementación.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Sensible a hiperparámetros y al preprocesamiento de datos.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Puede requerir ajustes finos para tareas fuera del dominio de entrenamiento original.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lide image 4"/>
          <p:cNvSpPr/>
          <p:nvPr/>
        </p:nvSpPr>
        <p:spPr>
          <a:xfrm>
            <a:off x="0" y="-234360"/>
            <a:ext cx="12191400" cy="1127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Características del Dataset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574920" y="1604520"/>
            <a:ext cx="11009520" cy="526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E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Características del Dataset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975960" y="1046160"/>
            <a:ext cx="10408320" cy="553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"/>
          <p:cNvGraphicFramePr/>
          <p:nvPr/>
        </p:nvGraphicFramePr>
        <p:xfrm>
          <a:off x="627480" y="287280"/>
          <a:ext cx="10972080" cy="6095520"/>
        </p:xfrm>
        <a:graphic>
          <a:graphicData uri="http://schemas.openxmlformats.org/drawingml/2006/table">
            <a:tbl>
              <a:tblPr/>
              <a:tblGrid>
                <a:gridCol w="1560600"/>
                <a:gridCol w="3925080"/>
                <a:gridCol w="2742840"/>
                <a:gridCol w="2743920"/>
              </a:tblGrid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Etiqueta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Clase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Ocurrencias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Peso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Potato___healthy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9.085535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Tomato__Tomato_mosaic_virus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261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3.689911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Tomato_Leaf_Mold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666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1.446046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Pepper__bell___Bacterial_spot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698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1.379752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Tomato_Early_blight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1.375810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Potato___Early_blight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1.375810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Potato___Late_blight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1.375810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Tomato__Target_Spot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983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0.979722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Pepper__bell___healthy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1035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0.930499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Tomato_healthy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1114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0.864512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Tomato_Spider_mites_Two_spotted_spider_mite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1173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0.821029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Tomato_Septoria_leaf_spot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1240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0.776667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Tomato_Late_blight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1336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0.720858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Tomato_Bacterial_spot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1489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0.646788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Tomato__Tomato_YellowLeaf__Curl_Virus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2245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0.428983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609480" y="1021680"/>
            <a:ext cx="10972080" cy="455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Transformaciones de entrenamiento: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RandomResizedCrop, flips, rotaciones leves y jitter de color para robustez ante variaciones de adquisición.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Transformaciones de validación/test: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Solo resize y normalización, sin estocasticidad, para una medición limpia.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Todas las entradas se normalizan con estadísticas de ImageNet para preservar la compatibilidad con pesos preentrenados. 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Slide image 9"/>
          <p:cNvPicPr/>
          <p:nvPr/>
        </p:nvPicPr>
        <p:blipFill>
          <a:blip r:embed="rId1"/>
          <a:srcRect l="0" t="0" r="0" b="85091"/>
          <a:stretch/>
        </p:blipFill>
        <p:spPr>
          <a:xfrm>
            <a:off x="0" y="0"/>
            <a:ext cx="12191400" cy="102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Slide image 8"/>
          <p:cNvPicPr/>
          <p:nvPr/>
        </p:nvPicPr>
        <p:blipFill>
          <a:blip r:embed="rId1"/>
          <a:srcRect l="0" t="0" r="0" b="85610"/>
          <a:stretch/>
        </p:blipFill>
        <p:spPr>
          <a:xfrm>
            <a:off x="0" y="0"/>
            <a:ext cx="12191400" cy="98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2"/>
          <a:stretch/>
        </p:blipFill>
        <p:spPr>
          <a:xfrm>
            <a:off x="11880" y="643320"/>
            <a:ext cx="12191760" cy="55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lide image 5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0" y="338040"/>
            <a:ext cx="12191400" cy="350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3"/>
          <a:stretch/>
        </p:blipFill>
        <p:spPr>
          <a:xfrm>
            <a:off x="-35280" y="3844440"/>
            <a:ext cx="12191400" cy="296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Slide image 6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/>
          <p:cNvPicPr/>
          <p:nvPr/>
        </p:nvPicPr>
        <p:blipFill>
          <a:blip r:embed="rId2"/>
          <a:stretch/>
        </p:blipFill>
        <p:spPr>
          <a:xfrm>
            <a:off x="0" y="318960"/>
            <a:ext cx="12174480" cy="653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Slide image 7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/>
          <p:cNvPicPr/>
          <p:nvPr/>
        </p:nvPicPr>
        <p:blipFill>
          <a:blip r:embed="rId2"/>
          <a:stretch/>
        </p:blipFill>
        <p:spPr>
          <a:xfrm>
            <a:off x="0" y="293760"/>
            <a:ext cx="12156120" cy="655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Slide image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100000">
              <a:schemeClr val="phClr">
                <a:shade val="13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3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2026-04-30T22:58:40Z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